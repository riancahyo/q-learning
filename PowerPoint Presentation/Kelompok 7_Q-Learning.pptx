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Montserrat Medium" charset="1" panose="00000600000000000000"/>
      <p:regular r:id="rId22"/>
    </p:embeddedFont>
    <p:embeddedFont>
      <p:font typeface="Montserrat Ultra-Bold" charset="1" panose="000009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0790" y="-19050"/>
            <a:ext cx="212090" cy="5143500"/>
            <a:chOff x="0" y="0"/>
            <a:chExt cx="55859" cy="1354667"/>
          </a:xfrm>
        </p:grpSpPr>
        <p:sp>
          <p:nvSpPr>
            <p:cNvPr name="Freeform 3" id="3"/>
            <p:cNvSpPr/>
            <p:nvPr/>
          </p:nvSpPr>
          <p:spPr>
            <a:xfrm flipH="false" flipV="false" rot="0">
              <a:off x="0" y="0"/>
              <a:ext cx="55859" cy="1354667"/>
            </a:xfrm>
            <a:custGeom>
              <a:avLst/>
              <a:gdLst/>
              <a:ahLst/>
              <a:cxnLst/>
              <a:rect r="r" b="b" t="t" l="l"/>
              <a:pathLst>
                <a:path h="1354667" w="55859">
                  <a:moveTo>
                    <a:pt x="0" y="0"/>
                  </a:moveTo>
                  <a:lnTo>
                    <a:pt x="55859" y="0"/>
                  </a:lnTo>
                  <a:lnTo>
                    <a:pt x="55859" y="1354667"/>
                  </a:lnTo>
                  <a:lnTo>
                    <a:pt x="0" y="1354667"/>
                  </a:lnTo>
                  <a:close/>
                </a:path>
              </a:pathLst>
            </a:custGeom>
            <a:solidFill>
              <a:srgbClr val="F9B314"/>
            </a:solidFill>
          </p:spPr>
        </p:sp>
        <p:sp>
          <p:nvSpPr>
            <p:cNvPr name="TextBox 4" id="4"/>
            <p:cNvSpPr txBox="true"/>
            <p:nvPr/>
          </p:nvSpPr>
          <p:spPr>
            <a:xfrm>
              <a:off x="0" y="-38100"/>
              <a:ext cx="55859" cy="13927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750190" y="1186051"/>
            <a:ext cx="12787620" cy="773662"/>
          </a:xfrm>
          <a:prstGeom prst="rect">
            <a:avLst/>
          </a:prstGeom>
        </p:spPr>
        <p:txBody>
          <a:bodyPr anchor="t" rtlCol="false" tIns="0" lIns="0" bIns="0" rIns="0">
            <a:spAutoFit/>
          </a:bodyPr>
          <a:lstStyle/>
          <a:p>
            <a:pPr algn="ctr">
              <a:lnSpc>
                <a:spcPts val="5960"/>
              </a:lnSpc>
            </a:pPr>
            <a:r>
              <a:rPr lang="en-US" b="true" sz="5418">
                <a:solidFill>
                  <a:srgbClr val="1211CA"/>
                </a:solidFill>
                <a:latin typeface="Montserrat Bold"/>
                <a:ea typeface="Montserrat Bold"/>
                <a:cs typeface="Montserrat Bold"/>
                <a:sym typeface="Montserrat Bold"/>
              </a:rPr>
              <a:t>Q-LEARNING</a:t>
            </a:r>
          </a:p>
        </p:txBody>
      </p:sp>
      <p:sp>
        <p:nvSpPr>
          <p:cNvPr name="TextBox 6" id="6"/>
          <p:cNvSpPr txBox="true"/>
          <p:nvPr/>
        </p:nvSpPr>
        <p:spPr>
          <a:xfrm rot="0">
            <a:off x="14997446" y="8646325"/>
            <a:ext cx="2261854" cy="471805"/>
          </a:xfrm>
          <a:prstGeom prst="rect">
            <a:avLst/>
          </a:prstGeom>
        </p:spPr>
        <p:txBody>
          <a:bodyPr anchor="t" rtlCol="false" tIns="0" lIns="0" bIns="0" rIns="0">
            <a:spAutoFit/>
          </a:bodyPr>
          <a:lstStyle/>
          <a:p>
            <a:pPr algn="r">
              <a:lnSpc>
                <a:spcPts val="3920"/>
              </a:lnSpc>
            </a:pPr>
            <a:r>
              <a:rPr lang="en-US" b="true" sz="2800">
                <a:solidFill>
                  <a:srgbClr val="101010"/>
                </a:solidFill>
                <a:latin typeface="Montserrat Medium"/>
                <a:ea typeface="Montserrat Medium"/>
                <a:cs typeface="Montserrat Medium"/>
                <a:sym typeface="Montserrat Medium"/>
              </a:rPr>
              <a:t>Start Slide</a:t>
            </a:r>
          </a:p>
        </p:txBody>
      </p:sp>
      <p:sp>
        <p:nvSpPr>
          <p:cNvPr name="Freeform 7" id="7"/>
          <p:cNvSpPr/>
          <p:nvPr/>
        </p:nvSpPr>
        <p:spPr>
          <a:xfrm flipH="false" flipV="false" rot="0">
            <a:off x="15098618" y="8772632"/>
            <a:ext cx="177766" cy="266816"/>
          </a:xfrm>
          <a:custGeom>
            <a:avLst/>
            <a:gdLst/>
            <a:ahLst/>
            <a:cxnLst/>
            <a:rect r="r" b="b" t="t" l="l"/>
            <a:pathLst>
              <a:path h="266816" w="177766">
                <a:moveTo>
                  <a:pt x="0" y="0"/>
                </a:moveTo>
                <a:lnTo>
                  <a:pt x="177766" y="0"/>
                </a:lnTo>
                <a:lnTo>
                  <a:pt x="177766" y="266816"/>
                </a:lnTo>
                <a:lnTo>
                  <a:pt x="0" y="2668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85657" y="5297700"/>
            <a:ext cx="2916686" cy="495300"/>
          </a:xfrm>
          <a:prstGeom prst="rect">
            <a:avLst/>
          </a:prstGeom>
        </p:spPr>
        <p:txBody>
          <a:bodyPr anchor="t" rtlCol="false" tIns="0" lIns="0" bIns="0" rIns="0">
            <a:spAutoFit/>
          </a:bodyPr>
          <a:lstStyle/>
          <a:p>
            <a:pPr algn="l">
              <a:lnSpc>
                <a:spcPts val="4199"/>
              </a:lnSpc>
            </a:pPr>
            <a:r>
              <a:rPr lang="en-US" sz="2999" b="true">
                <a:solidFill>
                  <a:srgbClr val="2D262A"/>
                </a:solidFill>
                <a:latin typeface="Montserrat Bold"/>
                <a:ea typeface="Montserrat Bold"/>
                <a:cs typeface="Montserrat Bold"/>
                <a:sym typeface="Montserrat Bold"/>
              </a:rPr>
              <a:t>KELOMPOK  7</a:t>
            </a:r>
          </a:p>
        </p:txBody>
      </p:sp>
      <p:sp>
        <p:nvSpPr>
          <p:cNvPr name="TextBox 9" id="9"/>
          <p:cNvSpPr txBox="true"/>
          <p:nvPr/>
        </p:nvSpPr>
        <p:spPr>
          <a:xfrm rot="0">
            <a:off x="5150081" y="6133579"/>
            <a:ext cx="7987838" cy="2231625"/>
          </a:xfrm>
          <a:prstGeom prst="rect">
            <a:avLst/>
          </a:prstGeom>
        </p:spPr>
        <p:txBody>
          <a:bodyPr anchor="t" rtlCol="false" tIns="0" lIns="0" bIns="0" rIns="0">
            <a:spAutoFit/>
          </a:bodyPr>
          <a:lstStyle/>
          <a:p>
            <a:pPr algn="ctr">
              <a:lnSpc>
                <a:spcPts val="4534"/>
              </a:lnSpc>
            </a:pPr>
            <a:r>
              <a:rPr lang="en-US" sz="2925" b="true">
                <a:solidFill>
                  <a:srgbClr val="2D262A"/>
                </a:solidFill>
                <a:latin typeface="Montserrat Bold"/>
                <a:ea typeface="Montserrat Bold"/>
                <a:cs typeface="Montserrat Bold"/>
                <a:sym typeface="Montserrat Bold"/>
              </a:rPr>
              <a:t>Ikbal Dzakwan (234311043)</a:t>
            </a:r>
          </a:p>
          <a:p>
            <a:pPr algn="ctr">
              <a:lnSpc>
                <a:spcPts val="4534"/>
              </a:lnSpc>
            </a:pPr>
            <a:r>
              <a:rPr lang="en-US" b="true" sz="2925">
                <a:solidFill>
                  <a:srgbClr val="2D262A"/>
                </a:solidFill>
                <a:latin typeface="Montserrat Bold"/>
                <a:ea typeface="Montserrat Bold"/>
                <a:cs typeface="Montserrat Bold"/>
                <a:sym typeface="Montserrat Bold"/>
              </a:rPr>
              <a:t>Mukti Ali Mudlofar (234311046)</a:t>
            </a:r>
          </a:p>
          <a:p>
            <a:pPr algn="ctr">
              <a:lnSpc>
                <a:spcPts val="4534"/>
              </a:lnSpc>
            </a:pPr>
            <a:r>
              <a:rPr lang="en-US" b="true" sz="2925">
                <a:solidFill>
                  <a:srgbClr val="2D262A"/>
                </a:solidFill>
                <a:latin typeface="Montserrat Bold"/>
                <a:ea typeface="Montserrat Bold"/>
                <a:cs typeface="Montserrat Bold"/>
                <a:sym typeface="Montserrat Bold"/>
              </a:rPr>
              <a:t>Rara Aliviana Gumaranti (234311050)</a:t>
            </a:r>
          </a:p>
          <a:p>
            <a:pPr algn="ctr">
              <a:lnSpc>
                <a:spcPts val="4534"/>
              </a:lnSpc>
            </a:pPr>
            <a:r>
              <a:rPr lang="en-US" b="true" sz="2925">
                <a:solidFill>
                  <a:srgbClr val="2D262A"/>
                </a:solidFill>
                <a:latin typeface="Montserrat Bold"/>
                <a:ea typeface="Montserrat Bold"/>
                <a:cs typeface="Montserrat Bold"/>
                <a:sym typeface="Montserrat Bold"/>
              </a:rPr>
              <a:t>Rian Cahyo Anggoro (234311052)</a:t>
            </a:r>
          </a:p>
        </p:txBody>
      </p:sp>
      <p:sp>
        <p:nvSpPr>
          <p:cNvPr name="TextBox 10" id="10"/>
          <p:cNvSpPr txBox="true"/>
          <p:nvPr/>
        </p:nvSpPr>
        <p:spPr>
          <a:xfrm rot="0">
            <a:off x="2177725" y="2162558"/>
            <a:ext cx="13932550" cy="1271016"/>
          </a:xfrm>
          <a:prstGeom prst="rect">
            <a:avLst/>
          </a:prstGeom>
        </p:spPr>
        <p:txBody>
          <a:bodyPr anchor="t" rtlCol="false" tIns="0" lIns="0" bIns="0" rIns="0">
            <a:spAutoFit/>
          </a:bodyPr>
          <a:lstStyle/>
          <a:p>
            <a:pPr algn="ctr">
              <a:lnSpc>
                <a:spcPts val="5082"/>
              </a:lnSpc>
            </a:pPr>
            <a:r>
              <a:rPr lang="en-US" b="true" sz="4200">
                <a:solidFill>
                  <a:srgbClr val="F9B314"/>
                </a:solidFill>
                <a:latin typeface="Montserrat Bold"/>
                <a:ea typeface="Montserrat Bold"/>
                <a:cs typeface="Montserrat Bold"/>
                <a:sym typeface="Montserrat Bold"/>
              </a:rPr>
              <a:t>Algoritma Reinforcement Learning untuk Pengambilan Keputusan Optimal</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850790" y="1133475"/>
            <a:ext cx="6586421" cy="529209"/>
          </a:xfrm>
          <a:prstGeom prst="rect">
            <a:avLst/>
          </a:prstGeom>
        </p:spPr>
        <p:txBody>
          <a:bodyPr anchor="t" rtlCol="false" tIns="0" lIns="0" bIns="0" rIns="0">
            <a:spAutoFit/>
          </a:bodyPr>
          <a:lstStyle/>
          <a:p>
            <a:pPr algn="l">
              <a:lnSpc>
                <a:spcPts val="3947"/>
              </a:lnSpc>
            </a:pPr>
            <a:r>
              <a:rPr lang="en-US" sz="4200" b="true">
                <a:solidFill>
                  <a:srgbClr val="1211CA"/>
                </a:solidFill>
                <a:latin typeface="Montserrat Ultra-Bold"/>
                <a:ea typeface="Montserrat Ultra-Bold"/>
                <a:cs typeface="Montserrat Ultra-Bold"/>
                <a:sym typeface="Montserrat Ultra-Bold"/>
              </a:rPr>
              <a:t>Pengertian </a:t>
            </a:r>
            <a:r>
              <a:rPr lang="en-US" sz="4200" b="true">
                <a:solidFill>
                  <a:srgbClr val="F9B314"/>
                </a:solidFill>
                <a:latin typeface="Montserrat Ultra-Bold"/>
                <a:ea typeface="Montserrat Ultra-Bold"/>
                <a:cs typeface="Montserrat Ultra-Bold"/>
                <a:sym typeface="Montserrat Ultra-Bold"/>
              </a:rPr>
              <a:t>Q-Learning</a:t>
            </a:r>
          </a:p>
        </p:txBody>
      </p:sp>
      <p:sp>
        <p:nvSpPr>
          <p:cNvPr name="TextBox 3" id="3"/>
          <p:cNvSpPr txBox="true"/>
          <p:nvPr/>
        </p:nvSpPr>
        <p:spPr>
          <a:xfrm rot="0">
            <a:off x="2074907" y="2313305"/>
            <a:ext cx="13981804" cy="4241800"/>
          </a:xfrm>
          <a:prstGeom prst="rect">
            <a:avLst/>
          </a:prstGeom>
        </p:spPr>
        <p:txBody>
          <a:bodyPr anchor="t" rtlCol="false" tIns="0" lIns="0" bIns="0" rIns="0">
            <a:spAutoFit/>
          </a:bodyPr>
          <a:lstStyle/>
          <a:p>
            <a:pPr algn="just">
              <a:lnSpc>
                <a:spcPts val="4204"/>
              </a:lnSpc>
            </a:pPr>
            <a:r>
              <a:rPr lang="en-US" b="true" sz="2899">
                <a:solidFill>
                  <a:srgbClr val="2D262A"/>
                </a:solidFill>
                <a:latin typeface="Montserrat Medium"/>
                <a:ea typeface="Montserrat Medium"/>
                <a:cs typeface="Montserrat Medium"/>
                <a:sym typeface="Montserrat Medium"/>
              </a:rPr>
              <a:t>Q-Learning adalah algoritma Reinforcement Learning yang mengajarkan agen mengambil keputusan terbaik lewat proses trial-and-error. Algoritma ini menggunakan tabel nilai (Q-Table) untuk menyimpan nilai kualitas suatu tindakan (action) pada kondisi tertentu (state). Selama belajar, agen mencoba berbagai aksi, menerima reward atau hukuman, lalu memperbarui nilai Q menggunakan persamaan Bellman. Dengan cara ini, agen dapat menemukan strategi optimal tanpa perlu mengetahui aturan lingkungan terlebih dahulu.</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73890" y="2305970"/>
            <a:ext cx="15340220" cy="2545716"/>
          </a:xfrm>
          <a:prstGeom prst="rect">
            <a:avLst/>
          </a:prstGeom>
        </p:spPr>
        <p:txBody>
          <a:bodyPr anchor="t" rtlCol="false" tIns="0" lIns="0" bIns="0" rIns="0">
            <a:spAutoFit/>
          </a:bodyPr>
          <a:lstStyle/>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Menemukan tindakan (action) terbaik pada setiap kondisi (state).</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Memaksimalkan total reward jangka panjang.</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Mempelajari nilai kualitas tindakan melalui pengalaman (trial-and-error).</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Menghasilkan strategi optimal tanpa mengetahui model lingkungan.</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Membantu agen mengambil keputusan secara efisien dan konsisten.</a:t>
            </a:r>
          </a:p>
        </p:txBody>
      </p:sp>
      <p:sp>
        <p:nvSpPr>
          <p:cNvPr name="TextBox 3" id="3"/>
          <p:cNvSpPr txBox="true"/>
          <p:nvPr/>
        </p:nvSpPr>
        <p:spPr>
          <a:xfrm rot="0">
            <a:off x="5850790" y="1133475"/>
            <a:ext cx="6586421"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Tujuan </a:t>
            </a:r>
            <a:r>
              <a:rPr lang="en-US" b="true" sz="4200">
                <a:solidFill>
                  <a:srgbClr val="F9B314"/>
                </a:solidFill>
                <a:latin typeface="Montserrat Ultra-Bold"/>
                <a:ea typeface="Montserrat Ultra-Bold"/>
                <a:cs typeface="Montserrat Ultra-Bold"/>
                <a:sym typeface="Montserrat Ultra-Bold"/>
              </a:rPr>
              <a:t>Q-Learning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850790" y="816483"/>
            <a:ext cx="6586421"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Cara Kerja </a:t>
            </a:r>
            <a:r>
              <a:rPr lang="en-US" b="true" sz="4200">
                <a:solidFill>
                  <a:srgbClr val="F9B314"/>
                </a:solidFill>
                <a:latin typeface="Montserrat Ultra-Bold"/>
                <a:ea typeface="Montserrat Ultra-Bold"/>
                <a:cs typeface="Montserrat Ultra-Bold"/>
                <a:sym typeface="Montserrat Ultra-Bold"/>
              </a:rPr>
              <a:t>Q-Learning</a:t>
            </a:r>
          </a:p>
        </p:txBody>
      </p:sp>
      <p:sp>
        <p:nvSpPr>
          <p:cNvPr name="Freeform 3" id="3"/>
          <p:cNvSpPr/>
          <p:nvPr/>
        </p:nvSpPr>
        <p:spPr>
          <a:xfrm flipH="false" flipV="false" rot="0">
            <a:off x="1260312" y="595015"/>
            <a:ext cx="2747537" cy="9096970"/>
          </a:xfrm>
          <a:custGeom>
            <a:avLst/>
            <a:gdLst/>
            <a:ahLst/>
            <a:cxnLst/>
            <a:rect r="r" b="b" t="t" l="l"/>
            <a:pathLst>
              <a:path h="9096970" w="2747537">
                <a:moveTo>
                  <a:pt x="0" y="0"/>
                </a:moveTo>
                <a:lnTo>
                  <a:pt x="2747537" y="0"/>
                </a:lnTo>
                <a:lnTo>
                  <a:pt x="2747537" y="9096970"/>
                </a:lnTo>
                <a:lnTo>
                  <a:pt x="0" y="9096970"/>
                </a:lnTo>
                <a:lnTo>
                  <a:pt x="0" y="0"/>
                </a:lnTo>
                <a:close/>
              </a:path>
            </a:pathLst>
          </a:custGeom>
          <a:blipFill>
            <a:blip r:embed="rId2"/>
            <a:stretch>
              <a:fillRect l="0" t="0" r="0" b="0"/>
            </a:stretch>
          </a:blipFill>
        </p:spPr>
      </p:sp>
      <p:sp>
        <p:nvSpPr>
          <p:cNvPr name="TextBox 4" id="4"/>
          <p:cNvSpPr txBox="true"/>
          <p:nvPr/>
        </p:nvSpPr>
        <p:spPr>
          <a:xfrm rot="0">
            <a:off x="4641696" y="1925828"/>
            <a:ext cx="12795867" cy="6908801"/>
          </a:xfrm>
          <a:prstGeom prst="rect">
            <a:avLst/>
          </a:prstGeom>
        </p:spPr>
        <p:txBody>
          <a:bodyPr anchor="t" rtlCol="false" tIns="0" lIns="0" bIns="0" rIns="0">
            <a:spAutoFit/>
          </a:bodyPr>
          <a:lstStyle/>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Initialize Parameters</a:t>
            </a:r>
          </a:p>
          <a:p>
            <a:pPr algn="just">
              <a:lnSpc>
                <a:spcPts val="4204"/>
              </a:lnSpc>
            </a:pPr>
            <a:r>
              <a:rPr lang="en-US" b="true" sz="2899">
                <a:solidFill>
                  <a:srgbClr val="2D262A"/>
                </a:solidFill>
                <a:latin typeface="Montserrat Medium"/>
                <a:ea typeface="Montserrat Medium"/>
                <a:cs typeface="Montserrat Medium"/>
                <a:sym typeface="Montserrat Medium"/>
              </a:rPr>
              <a:t>Sistem menyiapkan Q-table dan parameter seperti learning rate (α), discount factor (γ), serta nilai awal untuk setiap state–action.</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Identify Current State</a:t>
            </a:r>
          </a:p>
          <a:p>
            <a:pPr algn="just">
              <a:lnSpc>
                <a:spcPts val="4204"/>
              </a:lnSpc>
            </a:pPr>
            <a:r>
              <a:rPr lang="en-US" sz="2899" b="true">
                <a:solidFill>
                  <a:srgbClr val="2D262A"/>
                </a:solidFill>
                <a:latin typeface="Montserrat Medium"/>
                <a:ea typeface="Montserrat Medium"/>
                <a:cs typeface="Montserrat Medium"/>
                <a:sym typeface="Montserrat Medium"/>
              </a:rPr>
              <a:t>Agent mengamati lingkungan untuk menentukan state awal.</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Choose an Action from the Q-Table</a:t>
            </a:r>
          </a:p>
          <a:p>
            <a:pPr algn="just">
              <a:lnSpc>
                <a:spcPts val="4204"/>
              </a:lnSpc>
            </a:pPr>
            <a:r>
              <a:rPr lang="en-US" sz="2899" b="true">
                <a:solidFill>
                  <a:srgbClr val="2D262A"/>
                </a:solidFill>
                <a:latin typeface="Montserrat Medium"/>
                <a:ea typeface="Montserrat Medium"/>
                <a:cs typeface="Montserrat Medium"/>
                <a:sym typeface="Montserrat Medium"/>
              </a:rPr>
              <a:t>- Agent memilih tindakan berdasarkan nilai yang ada di Q-table.</a:t>
            </a:r>
          </a:p>
          <a:p>
            <a:pPr algn="just">
              <a:lnSpc>
                <a:spcPts val="4204"/>
              </a:lnSpc>
            </a:pPr>
            <a:r>
              <a:rPr lang="en-US" sz="2899" b="true">
                <a:solidFill>
                  <a:srgbClr val="2D262A"/>
                </a:solidFill>
                <a:latin typeface="Montserrat Medium"/>
                <a:ea typeface="Montserrat Medium"/>
                <a:cs typeface="Montserrat Medium"/>
                <a:sym typeface="Montserrat Medium"/>
              </a:rPr>
              <a:t>- </a:t>
            </a:r>
            <a:r>
              <a:rPr lang="en-US" sz="2899" b="true">
                <a:solidFill>
                  <a:srgbClr val="2D262A"/>
                </a:solidFill>
                <a:latin typeface="Montserrat Medium"/>
                <a:ea typeface="Montserrat Medium"/>
                <a:cs typeface="Montserrat Medium"/>
                <a:sym typeface="Montserrat Medium"/>
              </a:rPr>
              <a:t>Pemilihan bisa secara acak (exploration) atau berdasarkan nilai Q tertinggi (exploitation).</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Gain Experience</a:t>
            </a:r>
          </a:p>
          <a:p>
            <a:pPr algn="just">
              <a:lnSpc>
                <a:spcPts val="4204"/>
              </a:lnSpc>
            </a:pPr>
            <a:r>
              <a:rPr lang="en-US" sz="2899" b="true">
                <a:solidFill>
                  <a:srgbClr val="2D262A"/>
                </a:solidFill>
                <a:latin typeface="Montserrat Medium"/>
                <a:ea typeface="Montserrat Medium"/>
                <a:cs typeface="Montserrat Medium"/>
                <a:sym typeface="Montserrat Medium"/>
              </a:rPr>
              <a:t>- Agent menjalankan action tersebut pada lingkungan.</a:t>
            </a:r>
          </a:p>
          <a:p>
            <a:pPr algn="just">
              <a:lnSpc>
                <a:spcPts val="4204"/>
              </a:lnSpc>
            </a:pPr>
            <a:r>
              <a:rPr lang="en-US" b="true" sz="2899">
                <a:solidFill>
                  <a:srgbClr val="2D262A"/>
                </a:solidFill>
                <a:latin typeface="Montserrat Medium"/>
                <a:ea typeface="Montserrat Medium"/>
                <a:cs typeface="Montserrat Medium"/>
                <a:sym typeface="Montserrat Medium"/>
              </a:rPr>
              <a:t>- </a:t>
            </a:r>
            <a:r>
              <a:rPr lang="en-US" b="true" sz="2899">
                <a:solidFill>
                  <a:srgbClr val="2D262A"/>
                </a:solidFill>
                <a:latin typeface="Montserrat Medium"/>
                <a:ea typeface="Montserrat Medium"/>
                <a:cs typeface="Montserrat Medium"/>
                <a:sym typeface="Montserrat Medium"/>
              </a:rPr>
              <a:t>Agent kemudian menerima feedback berupa reward dan melihat kondisi baru yang terjadi.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850790" y="816483"/>
            <a:ext cx="6586421"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Cara Kerja </a:t>
            </a:r>
            <a:r>
              <a:rPr lang="en-US" b="true" sz="4200">
                <a:solidFill>
                  <a:srgbClr val="F9B314"/>
                </a:solidFill>
                <a:latin typeface="Montserrat Ultra-Bold"/>
                <a:ea typeface="Montserrat Ultra-Bold"/>
                <a:cs typeface="Montserrat Ultra-Bold"/>
                <a:sym typeface="Montserrat Ultra-Bold"/>
              </a:rPr>
              <a:t>Q-Learning</a:t>
            </a:r>
          </a:p>
        </p:txBody>
      </p:sp>
      <p:sp>
        <p:nvSpPr>
          <p:cNvPr name="Freeform 3" id="3"/>
          <p:cNvSpPr/>
          <p:nvPr/>
        </p:nvSpPr>
        <p:spPr>
          <a:xfrm flipH="false" flipV="false" rot="0">
            <a:off x="1260312" y="595015"/>
            <a:ext cx="2747537" cy="9096970"/>
          </a:xfrm>
          <a:custGeom>
            <a:avLst/>
            <a:gdLst/>
            <a:ahLst/>
            <a:cxnLst/>
            <a:rect r="r" b="b" t="t" l="l"/>
            <a:pathLst>
              <a:path h="9096970" w="2747537">
                <a:moveTo>
                  <a:pt x="0" y="0"/>
                </a:moveTo>
                <a:lnTo>
                  <a:pt x="2747537" y="0"/>
                </a:lnTo>
                <a:lnTo>
                  <a:pt x="2747537" y="9096970"/>
                </a:lnTo>
                <a:lnTo>
                  <a:pt x="0" y="9096970"/>
                </a:lnTo>
                <a:lnTo>
                  <a:pt x="0" y="0"/>
                </a:lnTo>
                <a:close/>
              </a:path>
            </a:pathLst>
          </a:custGeom>
          <a:blipFill>
            <a:blip r:embed="rId2"/>
            <a:stretch>
              <a:fillRect l="0" t="0" r="0" b="0"/>
            </a:stretch>
          </a:blipFill>
        </p:spPr>
      </p:sp>
      <p:sp>
        <p:nvSpPr>
          <p:cNvPr name="TextBox 4" id="4"/>
          <p:cNvSpPr txBox="true"/>
          <p:nvPr/>
        </p:nvSpPr>
        <p:spPr>
          <a:xfrm rot="0">
            <a:off x="4641696" y="1925828"/>
            <a:ext cx="12617604" cy="5842001"/>
          </a:xfrm>
          <a:prstGeom prst="rect">
            <a:avLst/>
          </a:prstGeom>
        </p:spPr>
        <p:txBody>
          <a:bodyPr anchor="t" rtlCol="false" tIns="0" lIns="0" bIns="0" rIns="0">
            <a:spAutoFit/>
          </a:bodyPr>
          <a:lstStyle/>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Update the Rew</a:t>
            </a:r>
            <a:r>
              <a:rPr lang="en-US" b="true" sz="2899">
                <a:solidFill>
                  <a:srgbClr val="F9B314"/>
                </a:solidFill>
                <a:latin typeface="Montserrat Bold"/>
                <a:ea typeface="Montserrat Bold"/>
                <a:cs typeface="Montserrat Bold"/>
                <a:sym typeface="Montserrat Bold"/>
              </a:rPr>
              <a:t>ard in Q-Table</a:t>
            </a:r>
          </a:p>
          <a:p>
            <a:pPr algn="just">
              <a:lnSpc>
                <a:spcPts val="4204"/>
              </a:lnSpc>
            </a:pPr>
            <a:r>
              <a:rPr lang="en-US" sz="2899" b="true">
                <a:solidFill>
                  <a:srgbClr val="2D262A"/>
                </a:solidFill>
                <a:latin typeface="Montserrat Medium"/>
                <a:ea typeface="Montserrat Medium"/>
                <a:cs typeface="Montserrat Medium"/>
                <a:sym typeface="Montserrat Medium"/>
              </a:rPr>
              <a:t>Nilai Q untuk state–action diperbarui berdasarkan reward dan nilai maksimum state berikutnya menggunakan persamaan Bellman.</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D</a:t>
            </a:r>
            <a:r>
              <a:rPr lang="en-US" b="true" sz="2899">
                <a:solidFill>
                  <a:srgbClr val="F9B314"/>
                </a:solidFill>
                <a:latin typeface="Montserrat Bold"/>
                <a:ea typeface="Montserrat Bold"/>
                <a:cs typeface="Montserrat Bold"/>
                <a:sym typeface="Montserrat Bold"/>
              </a:rPr>
              <a:t>etermine Next State</a:t>
            </a:r>
          </a:p>
          <a:p>
            <a:pPr algn="just">
              <a:lnSpc>
                <a:spcPts val="4204"/>
              </a:lnSpc>
            </a:pPr>
            <a:r>
              <a:rPr lang="en-US" sz="2899" b="true">
                <a:solidFill>
                  <a:srgbClr val="2D262A"/>
                </a:solidFill>
                <a:latin typeface="Montserrat Medium"/>
                <a:ea typeface="Montserrat Medium"/>
                <a:cs typeface="Montserrat Medium"/>
                <a:sym typeface="Montserrat Medium"/>
              </a:rPr>
              <a:t>Agent berpindah ke state baru setelah melakukan action.</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Reach Goal?</a:t>
            </a:r>
          </a:p>
          <a:p>
            <a:pPr algn="just">
              <a:lnSpc>
                <a:spcPts val="4204"/>
              </a:lnSpc>
            </a:pPr>
            <a:r>
              <a:rPr lang="en-US" sz="2899" b="true">
                <a:solidFill>
                  <a:srgbClr val="2D262A"/>
                </a:solidFill>
                <a:latin typeface="Montserrat Medium"/>
                <a:ea typeface="Montserrat Medium"/>
                <a:cs typeface="Montserrat Medium"/>
                <a:sym typeface="Montserrat Medium"/>
              </a:rPr>
              <a:t>- Jika belum mencapai goal, proses kembali ke tahap “Identify Current State”.</a:t>
            </a:r>
          </a:p>
          <a:p>
            <a:pPr algn="just">
              <a:lnSpc>
                <a:spcPts val="4204"/>
              </a:lnSpc>
            </a:pPr>
            <a:r>
              <a:rPr lang="en-US" sz="2899" b="true">
                <a:solidFill>
                  <a:srgbClr val="2D262A"/>
                </a:solidFill>
                <a:latin typeface="Montserrat Medium"/>
                <a:ea typeface="Montserrat Medium"/>
                <a:cs typeface="Montserrat Medium"/>
                <a:sym typeface="Montserrat Medium"/>
              </a:rPr>
              <a:t>- J</a:t>
            </a:r>
            <a:r>
              <a:rPr lang="en-US" sz="2899" b="true">
                <a:solidFill>
                  <a:srgbClr val="2D262A"/>
                </a:solidFill>
                <a:latin typeface="Montserrat Medium"/>
                <a:ea typeface="Montserrat Medium"/>
                <a:cs typeface="Montserrat Medium"/>
                <a:sym typeface="Montserrat Medium"/>
              </a:rPr>
              <a:t>ika sudah mencapai goal, episode berakhir.</a:t>
            </a:r>
          </a:p>
          <a:p>
            <a:pPr algn="just" marL="626106" indent="-313053" lvl="1">
              <a:lnSpc>
                <a:spcPts val="4204"/>
              </a:lnSpc>
              <a:buFont typeface="Arial"/>
              <a:buChar char="•"/>
            </a:pPr>
            <a:r>
              <a:rPr lang="en-US" b="true" sz="2899">
                <a:solidFill>
                  <a:srgbClr val="F9B314"/>
                </a:solidFill>
                <a:latin typeface="Montserrat Bold"/>
                <a:ea typeface="Montserrat Bold"/>
                <a:cs typeface="Montserrat Bold"/>
                <a:sym typeface="Montserrat Bold"/>
              </a:rPr>
              <a:t>End</a:t>
            </a:r>
          </a:p>
          <a:p>
            <a:pPr algn="just">
              <a:lnSpc>
                <a:spcPts val="4204"/>
              </a:lnSpc>
            </a:pPr>
            <a:r>
              <a:rPr lang="en-US" b="true" sz="2899">
                <a:solidFill>
                  <a:srgbClr val="2D262A"/>
                </a:solidFill>
                <a:latin typeface="Montserrat Medium"/>
                <a:ea typeface="Montserrat Medium"/>
                <a:cs typeface="Montserrat Medium"/>
                <a:sym typeface="Montserrat Medium"/>
              </a:rPr>
              <a:t>Proses pembelajaran untuk episode tersebut selesai.</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65545" y="816483"/>
            <a:ext cx="8556910"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Komponen Utama </a:t>
            </a:r>
            <a:r>
              <a:rPr lang="en-US" b="true" sz="4200">
                <a:solidFill>
                  <a:srgbClr val="F9B314"/>
                </a:solidFill>
                <a:latin typeface="Montserrat Ultra-Bold"/>
                <a:ea typeface="Montserrat Ultra-Bold"/>
                <a:cs typeface="Montserrat Ultra-Bold"/>
                <a:sym typeface="Montserrat Ultra-Bold"/>
              </a:rPr>
              <a:t>Q-Learning</a:t>
            </a:r>
          </a:p>
        </p:txBody>
      </p:sp>
      <p:sp>
        <p:nvSpPr>
          <p:cNvPr name="TextBox 3" id="3"/>
          <p:cNvSpPr txBox="true"/>
          <p:nvPr/>
        </p:nvSpPr>
        <p:spPr>
          <a:xfrm rot="0">
            <a:off x="933450" y="2073910"/>
            <a:ext cx="8290688" cy="6258941"/>
          </a:xfrm>
          <a:prstGeom prst="rect">
            <a:avLst/>
          </a:prstGeom>
        </p:spPr>
        <p:txBody>
          <a:bodyPr anchor="t" rtlCol="false" tIns="0" lIns="0" bIns="0" rIns="0">
            <a:spAutoFit/>
          </a:bodyPr>
          <a:lstStyle/>
          <a:p>
            <a:pPr algn="just" marL="626107" indent="-313054" lvl="1">
              <a:lnSpc>
                <a:spcPts val="4146"/>
              </a:lnSpc>
              <a:buFont typeface="Arial"/>
              <a:buChar char="•"/>
            </a:pPr>
            <a:r>
              <a:rPr lang="en-US" b="true" sz="2899">
                <a:solidFill>
                  <a:srgbClr val="F9B314"/>
                </a:solidFill>
                <a:latin typeface="Montserrat Bold"/>
                <a:ea typeface="Montserrat Bold"/>
                <a:cs typeface="Montserrat Bold"/>
                <a:sym typeface="Montserrat Bold"/>
              </a:rPr>
              <a:t>State (S)</a:t>
            </a:r>
          </a:p>
          <a:p>
            <a:pPr algn="just">
              <a:lnSpc>
                <a:spcPts val="4146"/>
              </a:lnSpc>
            </a:pPr>
            <a:r>
              <a:rPr lang="en-US" sz="2899" b="true">
                <a:solidFill>
                  <a:srgbClr val="2D262A"/>
                </a:solidFill>
                <a:latin typeface="Montserrat Medium"/>
                <a:ea typeface="Montserrat Medium"/>
                <a:cs typeface="Montserrat Medium"/>
                <a:sym typeface="Montserrat Medium"/>
              </a:rPr>
              <a:t>Kondisi lingkungan tempat agen berada pada suatu waktu.</a:t>
            </a:r>
          </a:p>
          <a:p>
            <a:pPr algn="just" marL="626107" indent="-313054" lvl="1">
              <a:lnSpc>
                <a:spcPts val="4146"/>
              </a:lnSpc>
              <a:buFont typeface="Arial"/>
              <a:buChar char="•"/>
            </a:pPr>
            <a:r>
              <a:rPr lang="en-US" b="true" sz="2899">
                <a:solidFill>
                  <a:srgbClr val="F9B314"/>
                </a:solidFill>
                <a:latin typeface="Montserrat Bold"/>
                <a:ea typeface="Montserrat Bold"/>
                <a:cs typeface="Montserrat Bold"/>
                <a:sym typeface="Montserrat Bold"/>
              </a:rPr>
              <a:t>Action (A)</a:t>
            </a:r>
          </a:p>
          <a:p>
            <a:pPr algn="just">
              <a:lnSpc>
                <a:spcPts val="4146"/>
              </a:lnSpc>
            </a:pPr>
            <a:r>
              <a:rPr lang="en-US" sz="2899" b="true">
                <a:solidFill>
                  <a:srgbClr val="2D262A"/>
                </a:solidFill>
                <a:latin typeface="Montserrat Medium"/>
                <a:ea typeface="Montserrat Medium"/>
                <a:cs typeface="Montserrat Medium"/>
                <a:sym typeface="Montserrat Medium"/>
              </a:rPr>
              <a:t>Pilihan tindakan yang dapat dilakukan agen pada suatu state.</a:t>
            </a:r>
          </a:p>
          <a:p>
            <a:pPr algn="just" marL="626107" indent="-313054" lvl="1">
              <a:lnSpc>
                <a:spcPts val="4146"/>
              </a:lnSpc>
              <a:buFont typeface="Arial"/>
              <a:buChar char="•"/>
            </a:pPr>
            <a:r>
              <a:rPr lang="en-US" b="true" sz="2899">
                <a:solidFill>
                  <a:srgbClr val="F9B314"/>
                </a:solidFill>
                <a:latin typeface="Montserrat Bold"/>
                <a:ea typeface="Montserrat Bold"/>
                <a:cs typeface="Montserrat Bold"/>
                <a:sym typeface="Montserrat Bold"/>
              </a:rPr>
              <a:t>Reward (R)</a:t>
            </a:r>
          </a:p>
          <a:p>
            <a:pPr algn="just">
              <a:lnSpc>
                <a:spcPts val="4146"/>
              </a:lnSpc>
            </a:pPr>
            <a:r>
              <a:rPr lang="en-US" sz="2899" b="true">
                <a:solidFill>
                  <a:srgbClr val="2D262A"/>
                </a:solidFill>
                <a:latin typeface="Montserrat Medium"/>
                <a:ea typeface="Montserrat Medium"/>
                <a:cs typeface="Montserrat Medium"/>
                <a:sym typeface="Montserrat Medium"/>
              </a:rPr>
              <a:t>Umpan balik berupa nilai positif/negatif yang diterima setelah agen melakukan aksi.</a:t>
            </a:r>
          </a:p>
          <a:p>
            <a:pPr algn="just" marL="626107" indent="-313054" lvl="1">
              <a:lnSpc>
                <a:spcPts val="4146"/>
              </a:lnSpc>
              <a:buFont typeface="Arial"/>
              <a:buChar char="•"/>
            </a:pPr>
            <a:r>
              <a:rPr lang="en-US" b="true" sz="2899">
                <a:solidFill>
                  <a:srgbClr val="F9B314"/>
                </a:solidFill>
                <a:latin typeface="Montserrat Bold"/>
                <a:ea typeface="Montserrat Bold"/>
                <a:cs typeface="Montserrat Bold"/>
                <a:sym typeface="Montserrat Bold"/>
              </a:rPr>
              <a:t>Q-Value / Q-Table</a:t>
            </a:r>
          </a:p>
          <a:p>
            <a:pPr algn="just">
              <a:lnSpc>
                <a:spcPts val="4146"/>
              </a:lnSpc>
            </a:pPr>
            <a:r>
              <a:rPr lang="en-US" b="true" sz="2899">
                <a:solidFill>
                  <a:srgbClr val="2D262A"/>
                </a:solidFill>
                <a:latin typeface="Montserrat Medium"/>
                <a:ea typeface="Montserrat Medium"/>
                <a:cs typeface="Montserrat Medium"/>
                <a:sym typeface="Montserrat Medium"/>
              </a:rPr>
              <a:t>Tabel atau fungsi yang menyimpan estimasi kualitas tindakan pada setiap state.</a:t>
            </a:r>
          </a:p>
        </p:txBody>
      </p:sp>
      <p:sp>
        <p:nvSpPr>
          <p:cNvPr name="TextBox 4" id="4"/>
          <p:cNvSpPr txBox="true"/>
          <p:nvPr/>
        </p:nvSpPr>
        <p:spPr>
          <a:xfrm rot="0">
            <a:off x="9991152" y="2064385"/>
            <a:ext cx="7363398" cy="6371717"/>
          </a:xfrm>
          <a:prstGeom prst="rect">
            <a:avLst/>
          </a:prstGeom>
        </p:spPr>
        <p:txBody>
          <a:bodyPr anchor="t" rtlCol="false" tIns="0" lIns="0" bIns="0" rIns="0">
            <a:spAutoFit/>
          </a:bodyPr>
          <a:lstStyle/>
          <a:p>
            <a:pPr algn="just" marL="626107" indent="-313054" lvl="1">
              <a:lnSpc>
                <a:spcPts val="4233"/>
              </a:lnSpc>
              <a:buFont typeface="Arial"/>
              <a:buChar char="•"/>
            </a:pPr>
            <a:r>
              <a:rPr lang="en-US" b="true" sz="2899">
                <a:solidFill>
                  <a:srgbClr val="F9B314"/>
                </a:solidFill>
                <a:latin typeface="Montserrat Bold"/>
                <a:ea typeface="Montserrat Bold"/>
                <a:cs typeface="Montserrat Bold"/>
                <a:sym typeface="Montserrat Bold"/>
              </a:rPr>
              <a:t>Policy (π)</a:t>
            </a:r>
          </a:p>
          <a:p>
            <a:pPr algn="just">
              <a:lnSpc>
                <a:spcPts val="4233"/>
              </a:lnSpc>
            </a:pPr>
            <a:r>
              <a:rPr lang="en-US" sz="2899" b="true">
                <a:solidFill>
                  <a:srgbClr val="2D262A"/>
                </a:solidFill>
                <a:latin typeface="Montserrat Medium"/>
                <a:ea typeface="Montserrat Medium"/>
                <a:cs typeface="Montserrat Medium"/>
                <a:sym typeface="Montserrat Medium"/>
              </a:rPr>
              <a:t>Strategi agen dalam memilih tindakan, biasanya menggunakan ε-greedy untuk eksplorasi &amp; eksploitasi.</a:t>
            </a:r>
          </a:p>
          <a:p>
            <a:pPr algn="just" marL="626107" indent="-313054" lvl="1">
              <a:lnSpc>
                <a:spcPts val="4233"/>
              </a:lnSpc>
              <a:buFont typeface="Arial"/>
              <a:buChar char="•"/>
            </a:pPr>
            <a:r>
              <a:rPr lang="en-US" b="true" sz="2899">
                <a:solidFill>
                  <a:srgbClr val="F9B314"/>
                </a:solidFill>
                <a:latin typeface="Montserrat Bold"/>
                <a:ea typeface="Montserrat Bold"/>
                <a:cs typeface="Montserrat Bold"/>
                <a:sym typeface="Montserrat Bold"/>
              </a:rPr>
              <a:t>Learning Rate (α)</a:t>
            </a:r>
          </a:p>
          <a:p>
            <a:pPr algn="just">
              <a:lnSpc>
                <a:spcPts val="4233"/>
              </a:lnSpc>
            </a:pPr>
            <a:r>
              <a:rPr lang="en-US" sz="2899" b="true">
                <a:solidFill>
                  <a:srgbClr val="2D262A"/>
                </a:solidFill>
                <a:latin typeface="Montserrat Medium"/>
                <a:ea typeface="Montserrat Medium"/>
                <a:cs typeface="Montserrat Medium"/>
                <a:sym typeface="Montserrat Medium"/>
              </a:rPr>
              <a:t>Tingkat seberapa cepat agen memperbarui Q-value berdasarkan pengalaman baru.</a:t>
            </a:r>
          </a:p>
          <a:p>
            <a:pPr algn="just" marL="626107" indent="-313054" lvl="1">
              <a:lnSpc>
                <a:spcPts val="4233"/>
              </a:lnSpc>
              <a:buFont typeface="Arial"/>
              <a:buChar char="•"/>
            </a:pPr>
            <a:r>
              <a:rPr lang="en-US" b="true" sz="2899">
                <a:solidFill>
                  <a:srgbClr val="F9B314"/>
                </a:solidFill>
                <a:latin typeface="Montserrat Bold"/>
                <a:ea typeface="Montserrat Bold"/>
                <a:cs typeface="Montserrat Bold"/>
                <a:sym typeface="Montserrat Bold"/>
              </a:rPr>
              <a:t>Discount Factor (γ)</a:t>
            </a:r>
          </a:p>
          <a:p>
            <a:pPr algn="just">
              <a:lnSpc>
                <a:spcPts val="4233"/>
              </a:lnSpc>
            </a:pPr>
            <a:r>
              <a:rPr lang="en-US" b="true" sz="2899">
                <a:solidFill>
                  <a:srgbClr val="2D262A"/>
                </a:solidFill>
                <a:latin typeface="Montserrat Medium"/>
                <a:ea typeface="Montserrat Medium"/>
                <a:cs typeface="Montserrat Medium"/>
                <a:sym typeface="Montserrat Medium"/>
              </a:rPr>
              <a:t>Parameter yang menentukan seberapa penting reward masa depan dibanding reward saat ini.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73890" y="4028504"/>
            <a:ext cx="15340220" cy="3574416"/>
          </a:xfrm>
          <a:prstGeom prst="rect">
            <a:avLst/>
          </a:prstGeom>
        </p:spPr>
        <p:txBody>
          <a:bodyPr anchor="t" rtlCol="false" tIns="0" lIns="0" bIns="0" rIns="0">
            <a:spAutoFit/>
          </a:bodyPr>
          <a:lstStyle/>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Q(s, a) → nilai Q lama pada state s dan action a</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α (alpha) → learning rate (0–1)</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r</a:t>
            </a:r>
            <a:r>
              <a:rPr lang="en-US" b="true" sz="2899">
                <a:solidFill>
                  <a:srgbClr val="2D262A"/>
                </a:solidFill>
                <a:latin typeface="Montserrat Medium"/>
                <a:ea typeface="Montserrat Medium"/>
                <a:cs typeface="Montserrat Medium"/>
                <a:sym typeface="Montserrat Medium"/>
              </a:rPr>
              <a:t> → reward yang diterima</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γ (gamma) → discount factor (0–1)</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max Q(s', a') → nilai Q tertinggi pada state berikutnya</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s' → next state</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a' → semua action yang mungkin di state berikutnya</a:t>
            </a:r>
          </a:p>
        </p:txBody>
      </p:sp>
      <p:sp>
        <p:nvSpPr>
          <p:cNvPr name="Freeform 3" id="3"/>
          <p:cNvSpPr/>
          <p:nvPr/>
        </p:nvSpPr>
        <p:spPr>
          <a:xfrm flipH="false" flipV="false" rot="0">
            <a:off x="3722067" y="2385803"/>
            <a:ext cx="10843866" cy="1226682"/>
          </a:xfrm>
          <a:custGeom>
            <a:avLst/>
            <a:gdLst/>
            <a:ahLst/>
            <a:cxnLst/>
            <a:rect r="r" b="b" t="t" l="l"/>
            <a:pathLst>
              <a:path h="1226682" w="10843866">
                <a:moveTo>
                  <a:pt x="0" y="0"/>
                </a:moveTo>
                <a:lnTo>
                  <a:pt x="10843866" y="0"/>
                </a:lnTo>
                <a:lnTo>
                  <a:pt x="10843866" y="1226682"/>
                </a:lnTo>
                <a:lnTo>
                  <a:pt x="0" y="1226682"/>
                </a:lnTo>
                <a:lnTo>
                  <a:pt x="0" y="0"/>
                </a:lnTo>
                <a:close/>
              </a:path>
            </a:pathLst>
          </a:custGeom>
          <a:blipFill>
            <a:blip r:embed="rId2"/>
            <a:stretch>
              <a:fillRect l="0" t="0" r="0" b="0"/>
            </a:stretch>
          </a:blipFill>
        </p:spPr>
      </p:sp>
      <p:sp>
        <p:nvSpPr>
          <p:cNvPr name="TextBox 4" id="4"/>
          <p:cNvSpPr txBox="true"/>
          <p:nvPr/>
        </p:nvSpPr>
        <p:spPr>
          <a:xfrm rot="0">
            <a:off x="5850790" y="1133475"/>
            <a:ext cx="6586421"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Rumus </a:t>
            </a:r>
            <a:r>
              <a:rPr lang="en-US" b="true" sz="4200">
                <a:solidFill>
                  <a:srgbClr val="F9B314"/>
                </a:solidFill>
                <a:latin typeface="Montserrat Ultra-Bold"/>
                <a:ea typeface="Montserrat Ultra-Bold"/>
                <a:cs typeface="Montserrat Ultra-Bold"/>
                <a:sym typeface="Montserrat Ultra-Bold"/>
              </a:rPr>
              <a:t>Q-Learning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63091" y="5653152"/>
            <a:ext cx="10561819" cy="955250"/>
          </a:xfrm>
          <a:custGeom>
            <a:avLst/>
            <a:gdLst/>
            <a:ahLst/>
            <a:cxnLst/>
            <a:rect r="r" b="b" t="t" l="l"/>
            <a:pathLst>
              <a:path h="955250" w="10561819">
                <a:moveTo>
                  <a:pt x="0" y="0"/>
                </a:moveTo>
                <a:lnTo>
                  <a:pt x="10561818" y="0"/>
                </a:lnTo>
                <a:lnTo>
                  <a:pt x="10561818" y="955250"/>
                </a:lnTo>
                <a:lnTo>
                  <a:pt x="0" y="955250"/>
                </a:lnTo>
                <a:lnTo>
                  <a:pt x="0" y="0"/>
                </a:lnTo>
                <a:close/>
              </a:path>
            </a:pathLst>
          </a:custGeom>
          <a:blipFill>
            <a:blip r:embed="rId2"/>
            <a:stretch>
              <a:fillRect l="0" t="0" r="0" b="0"/>
            </a:stretch>
          </a:blipFill>
        </p:spPr>
      </p:sp>
      <p:sp>
        <p:nvSpPr>
          <p:cNvPr name="TextBox 3" id="3"/>
          <p:cNvSpPr txBox="true"/>
          <p:nvPr/>
        </p:nvSpPr>
        <p:spPr>
          <a:xfrm rot="0">
            <a:off x="1626290" y="6675077"/>
            <a:ext cx="14767642" cy="3060066"/>
          </a:xfrm>
          <a:prstGeom prst="rect">
            <a:avLst/>
          </a:prstGeom>
        </p:spPr>
        <p:txBody>
          <a:bodyPr anchor="t" rtlCol="false" tIns="0" lIns="0" bIns="0" rIns="0">
            <a:spAutoFit/>
          </a:bodyPr>
          <a:lstStyle/>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Q(s, a) adalah</a:t>
            </a:r>
            <a:r>
              <a:rPr lang="en-US" b="true" sz="2899">
                <a:solidFill>
                  <a:srgbClr val="2D262A"/>
                </a:solidFill>
                <a:latin typeface="Montserrat Medium"/>
                <a:ea typeface="Montserrat Medium"/>
                <a:cs typeface="Montserrat Medium"/>
                <a:sym typeface="Montserrat Medium"/>
              </a:rPr>
              <a:t> hipotesis yang berusaha memperkirakan nilai masa depan dari suatu action pada suatu state.</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Nilai Q ini diperbarui terus menerus selama proses pembelajaran agar semakin </a:t>
            </a:r>
            <a:r>
              <a:rPr lang="en-US" b="true" sz="2899">
                <a:solidFill>
                  <a:srgbClr val="2D262A"/>
                </a:solidFill>
                <a:latin typeface="Montserrat Medium"/>
                <a:ea typeface="Montserrat Medium"/>
                <a:cs typeface="Montserrat Medium"/>
                <a:sym typeface="Montserrat Medium"/>
              </a:rPr>
              <a:t>mendekati nil</a:t>
            </a:r>
            <a:r>
              <a:rPr lang="en-US" b="true" sz="2899">
                <a:solidFill>
                  <a:srgbClr val="2D262A"/>
                </a:solidFill>
                <a:latin typeface="Montserrat Medium"/>
                <a:ea typeface="Montserrat Medium"/>
                <a:cs typeface="Montserrat Medium"/>
                <a:sym typeface="Montserrat Medium"/>
              </a:rPr>
              <a:t>ai sebenarnya.</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Dari fungsi inilah agent menentukan tindakan terbaik (memilih action dengan Q terbesar).</a:t>
            </a:r>
          </a:p>
        </p:txBody>
      </p:sp>
      <p:sp>
        <p:nvSpPr>
          <p:cNvPr name="TextBox 4" id="4"/>
          <p:cNvSpPr txBox="true"/>
          <p:nvPr/>
        </p:nvSpPr>
        <p:spPr>
          <a:xfrm rot="0">
            <a:off x="4836567" y="866775"/>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Hipotesa Function </a:t>
            </a:r>
            <a:r>
              <a:rPr lang="en-US" b="true" sz="4200">
                <a:solidFill>
                  <a:srgbClr val="F9B314"/>
                </a:solidFill>
                <a:latin typeface="Montserrat Ultra-Bold"/>
                <a:ea typeface="Montserrat Ultra-Bold"/>
                <a:cs typeface="Montserrat Ultra-Bold"/>
                <a:sym typeface="Montserrat Ultra-Bold"/>
              </a:rPr>
              <a:t>Q-Learning</a:t>
            </a:r>
          </a:p>
        </p:txBody>
      </p:sp>
      <p:sp>
        <p:nvSpPr>
          <p:cNvPr name="TextBox 5" id="5"/>
          <p:cNvSpPr txBox="true"/>
          <p:nvPr/>
        </p:nvSpPr>
        <p:spPr>
          <a:xfrm rot="0">
            <a:off x="1894068" y="1805012"/>
            <a:ext cx="14499864" cy="3574416"/>
          </a:xfrm>
          <a:prstGeom prst="rect">
            <a:avLst/>
          </a:prstGeom>
        </p:spPr>
        <p:txBody>
          <a:bodyPr anchor="t" rtlCol="false" tIns="0" lIns="0" bIns="0" rIns="0">
            <a:spAutoFit/>
          </a:bodyPr>
          <a:lstStyle/>
          <a:p>
            <a:pPr algn="l">
              <a:lnSpc>
                <a:spcPts val="4059"/>
              </a:lnSpc>
            </a:pPr>
            <a:r>
              <a:rPr lang="en-US" b="true" sz="2899">
                <a:solidFill>
                  <a:srgbClr val="2D262A"/>
                </a:solidFill>
                <a:latin typeface="Montserrat Medium"/>
                <a:ea typeface="Montserrat Medium"/>
                <a:cs typeface="Montserrat Medium"/>
                <a:sym typeface="Montserrat Medium"/>
              </a:rPr>
              <a:t>Hipotesa function pada Q-Learning adalah fungsi yang memetak</a:t>
            </a:r>
            <a:r>
              <a:rPr lang="en-US" b="true" sz="2899">
                <a:solidFill>
                  <a:srgbClr val="2D262A"/>
                </a:solidFill>
                <a:latin typeface="Montserrat Medium"/>
                <a:ea typeface="Montserrat Medium"/>
                <a:cs typeface="Montserrat Medium"/>
                <a:sym typeface="Montserrat Medium"/>
              </a:rPr>
              <a:t>an setiap pasangan state dan action menjadi sebuah nilai yang disebut Q-val</a:t>
            </a:r>
            <a:r>
              <a:rPr lang="en-US" b="true" sz="2899">
                <a:solidFill>
                  <a:srgbClr val="2D262A"/>
                </a:solidFill>
                <a:latin typeface="Montserrat Medium"/>
                <a:ea typeface="Montserrat Medium"/>
                <a:cs typeface="Montserrat Medium"/>
                <a:sym typeface="Montserrat Medium"/>
              </a:rPr>
              <a:t>ue. Fungsi ini digunakan untuk memperkirakan seberapa baik suatu tindakan (action) ketika dilakukan pada kondisi tertentu (state). Hipotesa function ini dihitung menggunakan metode Action-Value Function (Q-Function) dan diperbarui dengan pendekatan Temporal Difference Learning (TD Learning), kemudian direpresentasikan dalam bentuk Q-Table.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86909" y="5903531"/>
            <a:ext cx="9393058" cy="1295594"/>
          </a:xfrm>
          <a:custGeom>
            <a:avLst/>
            <a:gdLst/>
            <a:ahLst/>
            <a:cxnLst/>
            <a:rect r="r" b="b" t="t" l="l"/>
            <a:pathLst>
              <a:path h="1295594" w="9393058">
                <a:moveTo>
                  <a:pt x="0" y="0"/>
                </a:moveTo>
                <a:lnTo>
                  <a:pt x="9393058" y="0"/>
                </a:lnTo>
                <a:lnTo>
                  <a:pt x="9393058" y="1295594"/>
                </a:lnTo>
                <a:lnTo>
                  <a:pt x="0" y="1295594"/>
                </a:lnTo>
                <a:lnTo>
                  <a:pt x="0" y="0"/>
                </a:lnTo>
                <a:close/>
              </a:path>
            </a:pathLst>
          </a:custGeom>
          <a:blipFill>
            <a:blip r:embed="rId2"/>
            <a:stretch>
              <a:fillRect l="0" t="0" r="0" b="0"/>
            </a:stretch>
          </a:blipFill>
        </p:spPr>
      </p:sp>
      <p:sp>
        <p:nvSpPr>
          <p:cNvPr name="TextBox 3" id="3"/>
          <p:cNvSpPr txBox="true"/>
          <p:nvPr/>
        </p:nvSpPr>
        <p:spPr>
          <a:xfrm rot="0">
            <a:off x="1473890" y="6751450"/>
            <a:ext cx="15340220" cy="3060066"/>
          </a:xfrm>
          <a:prstGeom prst="rect">
            <a:avLst/>
          </a:prstGeom>
        </p:spPr>
        <p:txBody>
          <a:bodyPr anchor="t" rtlCol="false" tIns="0" lIns="0" bIns="0" rIns="0">
            <a:spAutoFit/>
          </a:bodyPr>
          <a:lstStyle/>
          <a:p>
            <a:pPr algn="just">
              <a:lnSpc>
                <a:spcPts val="4059"/>
              </a:lnSpc>
            </a:pPr>
          </a:p>
          <a:p>
            <a:pPr algn="just">
              <a:lnSpc>
                <a:spcPts val="4059"/>
              </a:lnSpc>
            </a:pPr>
            <a:r>
              <a:rPr lang="en-US" sz="2899" b="true">
                <a:solidFill>
                  <a:srgbClr val="2D262A"/>
                </a:solidFill>
                <a:latin typeface="Montserrat Medium"/>
                <a:ea typeface="Montserrat Medium"/>
                <a:cs typeface="Montserrat Medium"/>
                <a:sym typeface="Montserrat Medium"/>
              </a:rPr>
              <a:t>Keterangan:</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r = reward</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γ (gamma) = discount factor</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Q(s,a) = nilai Q saat ini</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ma</a:t>
            </a:r>
            <a:r>
              <a:rPr lang="en-US" b="true" sz="2899">
                <a:solidFill>
                  <a:srgbClr val="2D262A"/>
                </a:solidFill>
                <a:latin typeface="Montserrat Medium"/>
                <a:ea typeface="Montserrat Medium"/>
                <a:cs typeface="Montserrat Medium"/>
                <a:sym typeface="Montserrat Medium"/>
              </a:rPr>
              <a:t>x⁡a′Q(s′,a′) = nilai Q terbaik dari state berikutnya</a:t>
            </a:r>
          </a:p>
        </p:txBody>
      </p:sp>
      <p:sp>
        <p:nvSpPr>
          <p:cNvPr name="TextBox 4" id="4"/>
          <p:cNvSpPr txBox="true"/>
          <p:nvPr/>
        </p:nvSpPr>
        <p:spPr>
          <a:xfrm rot="0">
            <a:off x="5474078" y="838200"/>
            <a:ext cx="7339843"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Cost Function </a:t>
            </a:r>
            <a:r>
              <a:rPr lang="en-US" b="true" sz="4200">
                <a:solidFill>
                  <a:srgbClr val="F9B314"/>
                </a:solidFill>
                <a:latin typeface="Montserrat Ultra-Bold"/>
                <a:ea typeface="Montserrat Ultra-Bold"/>
                <a:cs typeface="Montserrat Ultra-Bold"/>
                <a:sym typeface="Montserrat Ultra-Bold"/>
              </a:rPr>
              <a:t>Q-Learning</a:t>
            </a:r>
          </a:p>
        </p:txBody>
      </p:sp>
      <p:sp>
        <p:nvSpPr>
          <p:cNvPr name="TextBox 5" id="5"/>
          <p:cNvSpPr txBox="true"/>
          <p:nvPr/>
        </p:nvSpPr>
        <p:spPr>
          <a:xfrm rot="0">
            <a:off x="1473890" y="1814765"/>
            <a:ext cx="15340220" cy="4088766"/>
          </a:xfrm>
          <a:prstGeom prst="rect">
            <a:avLst/>
          </a:prstGeom>
        </p:spPr>
        <p:txBody>
          <a:bodyPr anchor="t" rtlCol="false" tIns="0" lIns="0" bIns="0" rIns="0">
            <a:spAutoFit/>
          </a:bodyPr>
          <a:lstStyle/>
          <a:p>
            <a:pPr algn="just">
              <a:lnSpc>
                <a:spcPts val="4059"/>
              </a:lnSpc>
            </a:pPr>
            <a:r>
              <a:rPr lang="en-US" b="true" sz="2899">
                <a:solidFill>
                  <a:srgbClr val="2D262A"/>
                </a:solidFill>
                <a:latin typeface="Montserrat Medium"/>
                <a:ea typeface="Montserrat Medium"/>
                <a:cs typeface="Montserrat Medium"/>
                <a:sym typeface="Montserrat Medium"/>
              </a:rPr>
              <a:t>Dalam Q-Learning, cost function adalah ukuran selisih (error) antara:</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Q-value saat ini, dan</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Target Q-value, yaitu reward yang diterima ditambah nilai terbaik dari state berikutnya.</a:t>
            </a:r>
          </a:p>
          <a:p>
            <a:pPr algn="just">
              <a:lnSpc>
                <a:spcPts val="4059"/>
              </a:lnSpc>
            </a:pPr>
            <a:r>
              <a:rPr lang="en-US" b="true" sz="2899">
                <a:solidFill>
                  <a:srgbClr val="2D262A"/>
                </a:solidFill>
                <a:latin typeface="Montserrat Medium"/>
                <a:ea typeface="Montserrat Medium"/>
                <a:cs typeface="Montserrat Medium"/>
                <a:sym typeface="Montserrat Medium"/>
              </a:rPr>
              <a:t>Cost function menggunakan TD Error (Temporal Difference Error) sebagai ukuran cost-nya. </a:t>
            </a:r>
            <a:r>
              <a:rPr lang="en-US" b="true" sz="2899">
                <a:solidFill>
                  <a:srgbClr val="2D262A"/>
                </a:solidFill>
                <a:latin typeface="Montserrat Medium"/>
                <a:ea typeface="Montserrat Medium"/>
                <a:cs typeface="Montserrat Medium"/>
                <a:sym typeface="Montserrat Medium"/>
              </a:rPr>
              <a:t>Tujuannya adalah meminimalkan error tersebut sehingga Q-value menjadi semakin akurat.</a:t>
            </a:r>
          </a:p>
          <a:p>
            <a:pPr algn="just">
              <a:lnSpc>
                <a:spcPts val="4059"/>
              </a:lnSpc>
            </a:pPr>
            <a:r>
              <a:rPr lang="en-US" b="true" sz="2899">
                <a:solidFill>
                  <a:srgbClr val="2D262A"/>
                </a:solidFill>
                <a:latin typeface="Montserrat Medium"/>
                <a:ea typeface="Montserrat Medium"/>
                <a:cs typeface="Montserrat Medium"/>
                <a:sym typeface="Montserrat Medium"/>
              </a:rPr>
              <a:t>Cost Function Q-Learning dirumuskan sebagai:</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0179" y="2794246"/>
            <a:ext cx="14767642" cy="5117466"/>
          </a:xfrm>
          <a:prstGeom prst="rect">
            <a:avLst/>
          </a:prstGeom>
        </p:spPr>
        <p:txBody>
          <a:bodyPr anchor="t" rtlCol="false" tIns="0" lIns="0" bIns="0" rIns="0">
            <a:spAutoFit/>
          </a:bodyPr>
          <a:lstStyle/>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Agent = robot</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Environment = grid 4×4 (16 kotak/state bernomor 0-15)</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State = posisi robot di kotak tertentu (0-15)</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Action = left (0), right (1), up (2), down (3)</a:t>
            </a:r>
          </a:p>
          <a:p>
            <a:pPr algn="just" marL="626106" indent="-313053" lvl="1">
              <a:lnSpc>
                <a:spcPts val="4059"/>
              </a:lnSpc>
              <a:buFont typeface="Arial"/>
              <a:buChar char="•"/>
            </a:pPr>
            <a:r>
              <a:rPr lang="en-US" b="true" sz="2899">
                <a:solidFill>
                  <a:srgbClr val="2D262A"/>
                </a:solidFill>
                <a:latin typeface="Montserrat Medium"/>
                <a:ea typeface="Montserrat Medium"/>
                <a:cs typeface="Montserrat Medium"/>
                <a:sym typeface="Montserrat Medium"/>
              </a:rPr>
              <a:t>Reward:</a:t>
            </a:r>
          </a:p>
          <a:p>
            <a:pPr algn="just" marL="1252211" indent="-417404" lvl="2">
              <a:lnSpc>
                <a:spcPts val="4059"/>
              </a:lnSpc>
              <a:buFont typeface="Arial"/>
              <a:buChar char="⚬"/>
            </a:pPr>
            <a:r>
              <a:rPr lang="en-US" b="true" sz="2899">
                <a:solidFill>
                  <a:srgbClr val="2D262A"/>
                </a:solidFill>
                <a:latin typeface="Montserrat Medium"/>
                <a:ea typeface="Montserrat Medium"/>
                <a:cs typeface="Montserrat Medium"/>
                <a:sym typeface="Montserrat Medium"/>
              </a:rPr>
              <a:t>+1 jika mencapai goal (state 15)</a:t>
            </a:r>
          </a:p>
          <a:p>
            <a:pPr algn="just" marL="1252211" indent="-417404" lvl="2">
              <a:lnSpc>
                <a:spcPts val="4059"/>
              </a:lnSpc>
              <a:buFont typeface="Arial"/>
              <a:buChar char="⚬"/>
            </a:pPr>
            <a:r>
              <a:rPr lang="en-US" b="true" sz="2899">
                <a:solidFill>
                  <a:srgbClr val="2D262A"/>
                </a:solidFill>
                <a:latin typeface="Montserrat Medium"/>
                <a:ea typeface="Montserrat Medium"/>
                <a:cs typeface="Montserrat Medium"/>
                <a:sym typeface="Montserrat Medium"/>
              </a:rPr>
              <a:t>0 jika jalan biasa (belum sampai goal)</a:t>
            </a:r>
          </a:p>
          <a:p>
            <a:pPr algn="just" marL="1252211" indent="-417404" lvl="2">
              <a:lnSpc>
                <a:spcPts val="4059"/>
              </a:lnSpc>
              <a:buFont typeface="Arial"/>
              <a:buChar char="⚬"/>
            </a:pPr>
            <a:r>
              <a:rPr lang="en-US" b="true" sz="2899">
                <a:solidFill>
                  <a:srgbClr val="2D262A"/>
                </a:solidFill>
                <a:latin typeface="Montserrat Medium"/>
                <a:ea typeface="Montserrat Medium"/>
                <a:cs typeface="Montserrat Medium"/>
                <a:sym typeface="Montserrat Medium"/>
              </a:rPr>
              <a:t>Tidak ada penalti tembok (robot tetap di tempat jika menabrak batas grid)</a:t>
            </a:r>
          </a:p>
          <a:p>
            <a:pPr algn="just">
              <a:lnSpc>
                <a:spcPts val="4059"/>
              </a:lnSpc>
            </a:pPr>
          </a:p>
        </p:txBody>
      </p:sp>
      <p:sp>
        <p:nvSpPr>
          <p:cNvPr name="TextBox 3" id="3"/>
          <p:cNvSpPr txBox="true"/>
          <p:nvPr/>
        </p:nvSpPr>
        <p:spPr>
          <a:xfrm rot="0">
            <a:off x="4836567" y="866775"/>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Contoh Kasus </a:t>
            </a:r>
            <a:r>
              <a:rPr lang="en-US" b="true" sz="4200">
                <a:solidFill>
                  <a:srgbClr val="F9B314"/>
                </a:solidFill>
                <a:latin typeface="Montserrat Ultra-Bold"/>
                <a:ea typeface="Montserrat Ultra-Bold"/>
                <a:cs typeface="Montserrat Ultra-Bold"/>
                <a:sym typeface="Montserrat Ultra-Bold"/>
              </a:rPr>
              <a:t>Q-Learning</a:t>
            </a:r>
          </a:p>
        </p:txBody>
      </p:sp>
      <p:sp>
        <p:nvSpPr>
          <p:cNvPr name="TextBox 4" id="4"/>
          <p:cNvSpPr txBox="true"/>
          <p:nvPr/>
        </p:nvSpPr>
        <p:spPr>
          <a:xfrm rot="0">
            <a:off x="1894068" y="2013358"/>
            <a:ext cx="14633753" cy="488316"/>
          </a:xfrm>
          <a:prstGeom prst="rect">
            <a:avLst/>
          </a:prstGeom>
        </p:spPr>
        <p:txBody>
          <a:bodyPr anchor="t" rtlCol="false" tIns="0" lIns="0" bIns="0" rIns="0">
            <a:spAutoFit/>
          </a:bodyPr>
          <a:lstStyle/>
          <a:p>
            <a:pPr algn="just">
              <a:lnSpc>
                <a:spcPts val="4059"/>
              </a:lnSpc>
            </a:pPr>
            <a:r>
              <a:rPr lang="en-US" b="true" sz="2899">
                <a:solidFill>
                  <a:srgbClr val="2D262A"/>
                </a:solidFill>
                <a:latin typeface="Montserrat Bold"/>
                <a:ea typeface="Montserrat Bold"/>
                <a:cs typeface="Montserrat Bold"/>
                <a:sym typeface="Montserrat Bold"/>
              </a:rPr>
              <a:t>Kasu</a:t>
            </a:r>
            <a:r>
              <a:rPr lang="en-US" b="true" sz="2899">
                <a:solidFill>
                  <a:srgbClr val="2D262A"/>
                </a:solidFill>
                <a:latin typeface="Montserrat Bold"/>
                <a:ea typeface="Montserrat Bold"/>
                <a:cs typeface="Montserrat Bold"/>
                <a:sym typeface="Montserrat Bold"/>
              </a:rPr>
              <a:t>s: Agent menca</a:t>
            </a:r>
            <a:r>
              <a:rPr lang="en-US" b="true" sz="2899">
                <a:solidFill>
                  <a:srgbClr val="2D262A"/>
                </a:solidFill>
                <a:latin typeface="Montserrat Bold"/>
                <a:ea typeface="Montserrat Bold"/>
                <a:cs typeface="Montserrat Bold"/>
                <a:sym typeface="Montserrat Bold"/>
              </a:rPr>
              <a:t>ri jalan keluar dari maze</a:t>
            </a:r>
          </a:p>
        </p:txBody>
      </p:sp>
      <p:sp>
        <p:nvSpPr>
          <p:cNvPr name="TextBox 5" id="5"/>
          <p:cNvSpPr txBox="true"/>
          <p:nvPr/>
        </p:nvSpPr>
        <p:spPr>
          <a:xfrm rot="0">
            <a:off x="1894068" y="7532456"/>
            <a:ext cx="14767642" cy="2031366"/>
          </a:xfrm>
          <a:prstGeom prst="rect">
            <a:avLst/>
          </a:prstGeom>
        </p:spPr>
        <p:txBody>
          <a:bodyPr anchor="t" rtlCol="false" tIns="0" lIns="0" bIns="0" rIns="0">
            <a:spAutoFit/>
          </a:bodyPr>
          <a:lstStyle/>
          <a:p>
            <a:pPr algn="just">
              <a:lnSpc>
                <a:spcPts val="4059"/>
              </a:lnSpc>
            </a:pPr>
            <a:r>
              <a:rPr lang="en-US" b="true" sz="2899">
                <a:solidFill>
                  <a:srgbClr val="2D262A"/>
                </a:solidFill>
                <a:latin typeface="Montserrat Medium"/>
                <a:ea typeface="Montserrat Medium"/>
                <a:cs typeface="Montserrat Medium"/>
                <a:sym typeface="Montserrat Medium"/>
              </a:rPr>
              <a:t>Agent mencoba berbagai aksi → mendapatkan reward</a:t>
            </a:r>
            <a:r>
              <a:rPr lang="en-US" b="true" sz="2899">
                <a:solidFill>
                  <a:srgbClr val="2D262A"/>
                </a:solidFill>
                <a:latin typeface="Montserrat Medium"/>
                <a:ea typeface="Montserrat Medium"/>
                <a:cs typeface="Montserrat Medium"/>
                <a:sym typeface="Montserrat Medium"/>
              </a:rPr>
              <a:t> → Q-table terupdate menggunakan rumus Bellman → setelah 1000 episode training, agent menemukan jalur optimal dari posisi manapun menuju goal di pojok kanan bawah.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02775" y="2114770"/>
            <a:ext cx="4948282" cy="7269559"/>
          </a:xfrm>
          <a:custGeom>
            <a:avLst/>
            <a:gdLst/>
            <a:ahLst/>
            <a:cxnLst/>
            <a:rect r="r" b="b" t="t" l="l"/>
            <a:pathLst>
              <a:path h="7269559" w="4948282">
                <a:moveTo>
                  <a:pt x="0" y="0"/>
                </a:moveTo>
                <a:lnTo>
                  <a:pt x="4948282" y="0"/>
                </a:lnTo>
                <a:lnTo>
                  <a:pt x="4948282" y="7269559"/>
                </a:lnTo>
                <a:lnTo>
                  <a:pt x="0" y="7269559"/>
                </a:lnTo>
                <a:lnTo>
                  <a:pt x="0" y="0"/>
                </a:lnTo>
                <a:close/>
              </a:path>
            </a:pathLst>
          </a:custGeom>
          <a:blipFill>
            <a:blip r:embed="rId2"/>
            <a:stretch>
              <a:fillRect l="0" t="0" r="0" b="0"/>
            </a:stretch>
          </a:blipFill>
        </p:spPr>
      </p:sp>
      <p:sp>
        <p:nvSpPr>
          <p:cNvPr name="Freeform 3" id="3"/>
          <p:cNvSpPr/>
          <p:nvPr/>
        </p:nvSpPr>
        <p:spPr>
          <a:xfrm flipH="false" flipV="false" rot="0">
            <a:off x="6920331" y="2528813"/>
            <a:ext cx="10906855" cy="6097989"/>
          </a:xfrm>
          <a:custGeom>
            <a:avLst/>
            <a:gdLst/>
            <a:ahLst/>
            <a:cxnLst/>
            <a:rect r="r" b="b" t="t" l="l"/>
            <a:pathLst>
              <a:path h="6097989" w="10906855">
                <a:moveTo>
                  <a:pt x="0" y="0"/>
                </a:moveTo>
                <a:lnTo>
                  <a:pt x="10906855" y="0"/>
                </a:lnTo>
                <a:lnTo>
                  <a:pt x="10906855" y="6097990"/>
                </a:lnTo>
                <a:lnTo>
                  <a:pt x="0" y="6097990"/>
                </a:lnTo>
                <a:lnTo>
                  <a:pt x="0" y="0"/>
                </a:lnTo>
                <a:close/>
              </a:path>
            </a:pathLst>
          </a:custGeom>
          <a:blipFill>
            <a:blip r:embed="rId3"/>
            <a:stretch>
              <a:fillRect l="0" t="0" r="0" b="0"/>
            </a:stretch>
          </a:blipFill>
        </p:spPr>
      </p:sp>
      <p:sp>
        <p:nvSpPr>
          <p:cNvPr name="TextBox 4" id="4"/>
          <p:cNvSpPr txBox="true"/>
          <p:nvPr/>
        </p:nvSpPr>
        <p:spPr>
          <a:xfrm rot="0">
            <a:off x="4836567" y="866775"/>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Kode Program </a:t>
            </a:r>
            <a:r>
              <a:rPr lang="en-US" b="true" sz="4200">
                <a:solidFill>
                  <a:srgbClr val="F9B314"/>
                </a:solidFill>
                <a:latin typeface="Montserrat Ultra-Bold"/>
                <a:ea typeface="Montserrat Ultra-Bold"/>
                <a:cs typeface="Montserrat Ultra-Bold"/>
                <a:sym typeface="Montserrat Ultra-Bold"/>
              </a:rPr>
              <a:t>Q-Learning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07804" y="2797497"/>
            <a:ext cx="9112923" cy="5195761"/>
          </a:xfrm>
          <a:custGeom>
            <a:avLst/>
            <a:gdLst/>
            <a:ahLst/>
            <a:cxnLst/>
            <a:rect r="r" b="b" t="t" l="l"/>
            <a:pathLst>
              <a:path h="5195761" w="9112923">
                <a:moveTo>
                  <a:pt x="0" y="0"/>
                </a:moveTo>
                <a:lnTo>
                  <a:pt x="9112922" y="0"/>
                </a:lnTo>
                <a:lnTo>
                  <a:pt x="9112922" y="5195761"/>
                </a:lnTo>
                <a:lnTo>
                  <a:pt x="0" y="5195761"/>
                </a:lnTo>
                <a:lnTo>
                  <a:pt x="0" y="0"/>
                </a:lnTo>
                <a:close/>
              </a:path>
            </a:pathLst>
          </a:custGeom>
          <a:blipFill>
            <a:blip r:embed="rId2"/>
            <a:stretch>
              <a:fillRect l="0" t="0" r="0" b="0"/>
            </a:stretch>
          </a:blipFill>
        </p:spPr>
      </p:sp>
      <p:sp>
        <p:nvSpPr>
          <p:cNvPr name="Freeform 3" id="3"/>
          <p:cNvSpPr/>
          <p:nvPr/>
        </p:nvSpPr>
        <p:spPr>
          <a:xfrm flipH="false" flipV="false" rot="0">
            <a:off x="10467056" y="2258639"/>
            <a:ext cx="6510923" cy="7297106"/>
          </a:xfrm>
          <a:custGeom>
            <a:avLst/>
            <a:gdLst/>
            <a:ahLst/>
            <a:cxnLst/>
            <a:rect r="r" b="b" t="t" l="l"/>
            <a:pathLst>
              <a:path h="7297106" w="6510923">
                <a:moveTo>
                  <a:pt x="0" y="0"/>
                </a:moveTo>
                <a:lnTo>
                  <a:pt x="6510923" y="0"/>
                </a:lnTo>
                <a:lnTo>
                  <a:pt x="6510923" y="7297106"/>
                </a:lnTo>
                <a:lnTo>
                  <a:pt x="0" y="7297106"/>
                </a:lnTo>
                <a:lnTo>
                  <a:pt x="0" y="0"/>
                </a:lnTo>
                <a:close/>
              </a:path>
            </a:pathLst>
          </a:custGeom>
          <a:blipFill>
            <a:blip r:embed="rId3"/>
            <a:stretch>
              <a:fillRect l="0" t="0" r="0" b="0"/>
            </a:stretch>
          </a:blipFill>
        </p:spPr>
      </p:sp>
      <p:sp>
        <p:nvSpPr>
          <p:cNvPr name="TextBox 4" id="4"/>
          <p:cNvSpPr txBox="true"/>
          <p:nvPr/>
        </p:nvSpPr>
        <p:spPr>
          <a:xfrm rot="0">
            <a:off x="4836567" y="866775"/>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Kode Program </a:t>
            </a:r>
            <a:r>
              <a:rPr lang="en-US" b="true" sz="4200">
                <a:solidFill>
                  <a:srgbClr val="F9B314"/>
                </a:solidFill>
                <a:latin typeface="Montserrat Ultra-Bold"/>
                <a:ea typeface="Montserrat Ultra-Bold"/>
                <a:cs typeface="Montserrat Ultra-Bold"/>
                <a:sym typeface="Montserrat Ultra-Bold"/>
              </a:rPr>
              <a:t>Q-Learning</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36567" y="876300"/>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Ultra-Bold"/>
                <a:ea typeface="Montserrat Ultra-Bold"/>
                <a:cs typeface="Montserrat Ultra-Bold"/>
                <a:sym typeface="Montserrat Ultra-Bold"/>
              </a:rPr>
              <a:t>Penjelasan Kode </a:t>
            </a:r>
            <a:r>
              <a:rPr lang="en-US" b="true" sz="4200">
                <a:solidFill>
                  <a:srgbClr val="F9B314"/>
                </a:solidFill>
                <a:latin typeface="Montserrat Ultra-Bold"/>
                <a:ea typeface="Montserrat Ultra-Bold"/>
                <a:cs typeface="Montserrat Ultra-Bold"/>
                <a:sym typeface="Montserrat Ultra-Bold"/>
              </a:rPr>
              <a:t>Q-Learning</a:t>
            </a:r>
          </a:p>
        </p:txBody>
      </p:sp>
      <p:sp>
        <p:nvSpPr>
          <p:cNvPr name="TextBox 3" id="3"/>
          <p:cNvSpPr txBox="true"/>
          <p:nvPr/>
        </p:nvSpPr>
        <p:spPr>
          <a:xfrm rot="0">
            <a:off x="1168017" y="1995487"/>
            <a:ext cx="15951966" cy="6915150"/>
          </a:xfrm>
          <a:prstGeom prst="rect">
            <a:avLst/>
          </a:prstGeom>
        </p:spPr>
        <p:txBody>
          <a:bodyPr anchor="t" rtlCol="false" tIns="0" lIns="0" bIns="0" rIns="0">
            <a:spAutoFit/>
          </a:bodyPr>
          <a:lstStyle/>
          <a:p>
            <a:pPr algn="just">
              <a:lnSpc>
                <a:spcPts val="3914"/>
              </a:lnSpc>
            </a:pPr>
            <a:r>
              <a:rPr lang="en-US" b="true" sz="2699">
                <a:solidFill>
                  <a:srgbClr val="2D262A"/>
                </a:solidFill>
                <a:latin typeface="Montserrat Medium"/>
                <a:ea typeface="Montserrat Medium"/>
                <a:cs typeface="Montserrat Medium"/>
                <a:sym typeface="Montserrat Medium"/>
              </a:rPr>
              <a:t>Kode ini mengimplementasikan Q-Learning di grid 4×4 dengan 16 state dan 4 aksi gerakan, dimana agent belajar mencapai goal di state 15. Dimulai dengan inisialisasi Q-table 16×4 bernilai nol dan set hyperparameter (learning_rate=0.8</a:t>
            </a:r>
            <a:r>
              <a:rPr lang="en-US" b="true" sz="2699">
                <a:solidFill>
                  <a:srgbClr val="2D262A"/>
                </a:solidFill>
                <a:latin typeface="Montserrat Medium"/>
                <a:ea typeface="Montserrat Medium"/>
                <a:cs typeface="Montserrat Medium"/>
                <a:sym typeface="Montserrat Medium"/>
              </a:rPr>
              <a:t>, discount_factor=0.95, exploration_prob=0.2), kemudian fungsi get_next_state() menangani perpindahan state dengan mengubah nomor state ke koordinat grid menggunakan divmod, menggerakkan agent sesuai aksi, dan mengkonversi kembali ke nomor state dengan batasan grid. Dalam 1000 episode training, agent mulai dari state random, memilih aksi dengan epsilon-greedy policy (20% eksplorasi random, 80% eksploitasi Q-value tertinggi), berpindah ke state baru, mendapat reward 1 s</a:t>
            </a:r>
            <a:r>
              <a:rPr lang="en-US" b="true" sz="2699">
                <a:solidFill>
                  <a:srgbClr val="2D262A"/>
                </a:solidFill>
                <a:latin typeface="Montserrat Medium"/>
                <a:ea typeface="Montserrat Medium"/>
                <a:cs typeface="Montserrat Medium"/>
                <a:sym typeface="Montserrat Medium"/>
              </a:rPr>
              <a:t>aat mencapai goal atau 0 jika belum, lalu update Q-table dengan rumus Bellman Q(s,a) += α * (reward + γ * max(Q(s')) - Q(s,a)) yang menyesuaikan nilai berdasarkan selisih expected reward dan Q-value saat ini, proses berulang hingga goal tercapai per episode. Hasil akhir divisualisasikan sebagai heatmap yang menunjukkan Q-value maksimum tiap state, membuktikan agent telah mempelajari jalur optimal dengan state dekat goal memiliki nilai lebih tinggi.</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36567" y="876300"/>
            <a:ext cx="8614866" cy="529209"/>
          </a:xfrm>
          <a:prstGeom prst="rect">
            <a:avLst/>
          </a:prstGeom>
        </p:spPr>
        <p:txBody>
          <a:bodyPr anchor="t" rtlCol="false" tIns="0" lIns="0" bIns="0" rIns="0">
            <a:spAutoFit/>
          </a:bodyPr>
          <a:lstStyle/>
          <a:p>
            <a:pPr algn="ctr">
              <a:lnSpc>
                <a:spcPts val="3947"/>
              </a:lnSpc>
            </a:pPr>
            <a:r>
              <a:rPr lang="en-US" b="true" sz="4200">
                <a:solidFill>
                  <a:srgbClr val="1211CA"/>
                </a:solidFill>
                <a:latin typeface="Montserrat Bold"/>
                <a:ea typeface="Montserrat Bold"/>
                <a:cs typeface="Montserrat Bold"/>
                <a:sym typeface="Montserrat Bold"/>
              </a:rPr>
              <a:t>Kesimpulan</a:t>
            </a:r>
          </a:p>
        </p:txBody>
      </p:sp>
      <p:sp>
        <p:nvSpPr>
          <p:cNvPr name="TextBox 3" id="3"/>
          <p:cNvSpPr txBox="true"/>
          <p:nvPr/>
        </p:nvSpPr>
        <p:spPr>
          <a:xfrm rot="0">
            <a:off x="1168017" y="1995487"/>
            <a:ext cx="15951966" cy="5429250"/>
          </a:xfrm>
          <a:prstGeom prst="rect">
            <a:avLst/>
          </a:prstGeom>
        </p:spPr>
        <p:txBody>
          <a:bodyPr anchor="t" rtlCol="false" tIns="0" lIns="0" bIns="0" rIns="0">
            <a:spAutoFit/>
          </a:bodyPr>
          <a:lstStyle/>
          <a:p>
            <a:pPr algn="just">
              <a:lnSpc>
                <a:spcPts val="3914"/>
              </a:lnSpc>
            </a:pPr>
            <a:r>
              <a:rPr lang="en-US" sz="2699" b="true">
                <a:solidFill>
                  <a:srgbClr val="2D262A"/>
                </a:solidFill>
                <a:latin typeface="Montserrat Medium"/>
                <a:ea typeface="Montserrat Medium"/>
                <a:cs typeface="Montserrat Medium"/>
                <a:sym typeface="Montserrat Medium"/>
              </a:rPr>
              <a:t>Berdasarkan konsep dasar Reinforcement Learning yang menekankan proses belajar melalui interaksi dengan lingkungan dan pembaruan nilai keputusan menggunakan persamaan Bellman, Q-Learning terbukti sebagai algoritma efektif untuk menemukan strategi optimal tanpa memerlukan model lingkungan. Melalui mekanisme eksplorasi dan eksploitasi, agen mampu mencoba berbagai tindakan, menerima reward, dan memperbarui Q-value hingga menghasilkan pola keputusan yang semakin akurat. Implementasi pada kasus grid 4×4 menunjukkan bahwa setelah melalui banyak episode pelatihan, agen berhasil mempelajari jalur terbaik menuju goal secara konsisten, menegaskan bahwa Q-Learning mampu memaksimalkan reward jangka panjang sekaligus mendukung pengambilan keputusan adaptif berbasis pengalaman.</a:t>
            </a:r>
          </a:p>
          <a:p>
            <a:pPr algn="just">
              <a:lnSpc>
                <a:spcPts val="3914"/>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0790" y="-19050"/>
            <a:ext cx="212090" cy="5143500"/>
            <a:chOff x="0" y="0"/>
            <a:chExt cx="55859" cy="1354667"/>
          </a:xfrm>
        </p:grpSpPr>
        <p:sp>
          <p:nvSpPr>
            <p:cNvPr name="Freeform 3" id="3"/>
            <p:cNvSpPr/>
            <p:nvPr/>
          </p:nvSpPr>
          <p:spPr>
            <a:xfrm flipH="false" flipV="false" rot="0">
              <a:off x="0" y="0"/>
              <a:ext cx="55859" cy="1354667"/>
            </a:xfrm>
            <a:custGeom>
              <a:avLst/>
              <a:gdLst/>
              <a:ahLst/>
              <a:cxnLst/>
              <a:rect r="r" b="b" t="t" l="l"/>
              <a:pathLst>
                <a:path h="1354667" w="55859">
                  <a:moveTo>
                    <a:pt x="0" y="0"/>
                  </a:moveTo>
                  <a:lnTo>
                    <a:pt x="55859" y="0"/>
                  </a:lnTo>
                  <a:lnTo>
                    <a:pt x="55859" y="1354667"/>
                  </a:lnTo>
                  <a:lnTo>
                    <a:pt x="0" y="1354667"/>
                  </a:lnTo>
                  <a:close/>
                </a:path>
              </a:pathLst>
            </a:custGeom>
            <a:solidFill>
              <a:srgbClr val="F9B314"/>
            </a:solidFill>
          </p:spPr>
        </p:sp>
        <p:sp>
          <p:nvSpPr>
            <p:cNvPr name="TextBox 4" id="4"/>
            <p:cNvSpPr txBox="true"/>
            <p:nvPr/>
          </p:nvSpPr>
          <p:spPr>
            <a:xfrm>
              <a:off x="0" y="-38100"/>
              <a:ext cx="55859" cy="139276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223875" y="8772632"/>
            <a:ext cx="177766" cy="266816"/>
          </a:xfrm>
          <a:custGeom>
            <a:avLst/>
            <a:gdLst/>
            <a:ahLst/>
            <a:cxnLst/>
            <a:rect r="r" b="b" t="t" l="l"/>
            <a:pathLst>
              <a:path h="266816" w="177766">
                <a:moveTo>
                  <a:pt x="0" y="0"/>
                </a:moveTo>
                <a:lnTo>
                  <a:pt x="177766" y="0"/>
                </a:lnTo>
                <a:lnTo>
                  <a:pt x="177766" y="266816"/>
                </a:lnTo>
                <a:lnTo>
                  <a:pt x="0" y="2668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355377" y="4627242"/>
            <a:ext cx="7577246" cy="1108716"/>
          </a:xfrm>
          <a:prstGeom prst="rect">
            <a:avLst/>
          </a:prstGeom>
        </p:spPr>
        <p:txBody>
          <a:bodyPr anchor="t" rtlCol="false" tIns="0" lIns="0" bIns="0" rIns="0">
            <a:spAutoFit/>
          </a:bodyPr>
          <a:lstStyle/>
          <a:p>
            <a:pPr algn="l">
              <a:lnSpc>
                <a:spcPts val="8580"/>
              </a:lnSpc>
            </a:pPr>
            <a:r>
              <a:rPr lang="en-US" b="true" sz="7800">
                <a:solidFill>
                  <a:srgbClr val="1211CA"/>
                </a:solidFill>
                <a:latin typeface="Montserrat Bold"/>
                <a:ea typeface="Montserrat Bold"/>
                <a:cs typeface="Montserrat Bold"/>
                <a:sym typeface="Montserrat Bold"/>
              </a:rPr>
              <a:t>TERIMA KASIH</a:t>
            </a:r>
          </a:p>
        </p:txBody>
      </p:sp>
      <p:sp>
        <p:nvSpPr>
          <p:cNvPr name="TextBox 7" id="7"/>
          <p:cNvSpPr txBox="true"/>
          <p:nvPr/>
        </p:nvSpPr>
        <p:spPr>
          <a:xfrm rot="0">
            <a:off x="14997446" y="8646325"/>
            <a:ext cx="2261854" cy="471805"/>
          </a:xfrm>
          <a:prstGeom prst="rect">
            <a:avLst/>
          </a:prstGeom>
        </p:spPr>
        <p:txBody>
          <a:bodyPr anchor="t" rtlCol="false" tIns="0" lIns="0" bIns="0" rIns="0">
            <a:spAutoFit/>
          </a:bodyPr>
          <a:lstStyle/>
          <a:p>
            <a:pPr algn="r">
              <a:lnSpc>
                <a:spcPts val="3920"/>
              </a:lnSpc>
            </a:pPr>
            <a:r>
              <a:rPr lang="en-US" b="true" sz="2800">
                <a:solidFill>
                  <a:srgbClr val="101010"/>
                </a:solidFill>
                <a:latin typeface="Montserrat Medium"/>
                <a:ea typeface="Montserrat Medium"/>
                <a:cs typeface="Montserrat Medium"/>
                <a:sym typeface="Montserrat Medium"/>
              </a:rPr>
              <a:t>End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DAG40gl9DV0</dc:identifier>
  <dcterms:modified xsi:type="dcterms:W3CDTF">2011-08-01T06:04:30Z</dcterms:modified>
  <cp:revision>1</cp:revision>
  <dc:title>Q Learning</dc:title>
</cp:coreProperties>
</file>